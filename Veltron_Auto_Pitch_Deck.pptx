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548640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VELTRON AUTO</a:t>
            </a:r>
          </a:p>
          <a:p>
            <a:pPr>
              <a:spcBef>
                <a:spcPts val="1000"/>
              </a:spcBef>
              <a:defRPr sz="1800">
                <a:solidFill>
                  <a:srgbClr val="FF0000"/>
                </a:solidFill>
                <a:latin typeface="Segoe UI"/>
              </a:defRPr>
            </a:pPr>
            <a:r>
              <a:t>ENGINEERING EMOTION. DEFINING MOTION.</a:t>
            </a:r>
          </a:p>
          <a:p>
            <a:pPr>
              <a:spcBef>
                <a:spcPts val="1500"/>
              </a:spcBef>
              <a:defRPr sz="1400">
                <a:solidFill>
                  <a:srgbClr val="999999"/>
                </a:solidFill>
                <a:latin typeface="Segoe UI"/>
              </a:defRPr>
            </a:pPr>
            <a:r>
              <a:t>Investor &amp; Partner Pitch Deck | Independent Automotive R&amp;D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Founder &amp; Automotive Design Director: Boris Vlajnić  |  Belgrade, Serbia  |  office@veltroncars.com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00"/>
                </a:solidFill>
                <a:latin typeface="Segoe UI"/>
              </a:defRPr>
            </a:pPr>
            <a:r>
              <a:t>01 / THE INDUSTRY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Loss of Connection in Modern Automotive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0000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Tech Overload Without Emotion</a:t>
            </a:r>
          </a:p>
          <a:p>
            <a:pPr>
              <a:spcBef>
                <a:spcPts val="1200"/>
              </a:spcBef>
              <a:defRPr sz="1200">
                <a:solidFill>
                  <a:srgbClr val="999999"/>
                </a:solidFill>
              </a:defRPr>
            </a:pPr>
            <a:r>
              <a:t>Vehicles are becoming heavier, overly digitalized, and disconnected. Massive screens and over-engineered infotainment remove the visceral joy of driving.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10312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0000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Generic EV Design Language</a:t>
            </a:r>
          </a:p>
          <a:p>
            <a:pPr>
              <a:spcBef>
                <a:spcPts val="1200"/>
              </a:spcBef>
              <a:defRPr sz="1200">
                <a:solidFill>
                  <a:srgbClr val="999999"/>
                </a:solidFill>
              </a:defRPr>
            </a:pPr>
            <a:r>
              <a:t>Automotive design is shifting toward sterile, interchangeable shapes. Veltron rejects the notion that the future must be generic or characterless.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10312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0000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The Core Engineering Challenge</a:t>
            </a:r>
          </a:p>
          <a:p>
            <a:pPr>
              <a:spcBef>
                <a:spcPts val="1200"/>
              </a:spcBef>
              <a:defRPr sz="1200">
                <a:solidFill>
                  <a:srgbClr val="999999"/>
                </a:solidFill>
              </a:defRPr>
            </a:pPr>
            <a:r>
              <a:t>How do we fuse advanced aerodynamics, powertrain intelligence, and digital Cockpits with a vehicle that retains true soul and driver connection?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00"/>
                </a:solidFill>
                <a:latin typeface="Segoe UI"/>
              </a:defRPr>
            </a:pPr>
            <a:r>
              <a:t>02 / THE VELTRON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Four Pillars of Veltron Automotive Philosophy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201168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0000"/>
                </a:solidFill>
              </a:defRPr>
            </a:pPr>
            <a:r>
              <a:t>EMOTIONAL AERODYNAMICS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Form follows motion. Sculpting exterior surfaces where aerodynamic efficiency enhances aesthetic power.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120640" cy="201168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57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0000"/>
                </a:solidFill>
              </a:defRPr>
            </a:pPr>
            <a:r>
              <a:t>INTELLIGENT ENGINEERING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Performance without excess. High-precision structural and powertrain architecture tailored for purpose.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5120640" cy="201168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0000"/>
                </a:solidFill>
              </a:defRPr>
            </a:pPr>
            <a:r>
              <a:t>HUMAN-MACHINE INTELLIGENCE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Technology should disappear into the experience. Cockpit software that serves the driver, not distracts.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114800"/>
            <a:ext cx="5120640" cy="201168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43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0000"/>
                </a:solidFill>
              </a:defRPr>
            </a:pPr>
            <a:r>
              <a:t>ACCESSIBLE PERFORMANCE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Democratizing high-performance engineering. Advanced vehicle dynamics engineered for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00"/>
                </a:solidFill>
                <a:latin typeface="Segoe UI"/>
              </a:defRPr>
            </a:pPr>
            <a:r>
              <a:t>03 / FLAGSHIP DEMONSTRATOR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Veltron V1 SportLine — Premium Boutique Performance Sedan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400">
                <a:solidFill>
                  <a:srgbClr val="FFFFFF"/>
                </a:solidFill>
              </a:defRPr>
            </a:pPr>
            <a:r>
              <a:t>•  Concept Positioning: </a:t>
            </a:r>
            <a:r>
              <a:rPr b="0">
                <a:solidFill>
                  <a:srgbClr val="999999"/>
                </a:solidFill>
              </a:rPr>
              <a:t>Boutique sports sedan designed as the primary demonstrator of Veltron's design language.</a:t>
            </a:r>
          </a:p>
          <a:p>
            <a:pPr>
              <a:spcBef>
                <a:spcPts val="1400"/>
              </a:spcBef>
              <a:defRPr b="1" sz="1400">
                <a:solidFill>
                  <a:srgbClr val="FFFFFF"/>
                </a:solidFill>
              </a:defRPr>
            </a:pPr>
            <a:r>
              <a:t>•  Design Highlights: </a:t>
            </a:r>
            <a:r>
              <a:rPr b="0">
                <a:solidFill>
                  <a:srgbClr val="999999"/>
                </a:solidFill>
              </a:rPr>
              <a:t>Athletic sedan proportions, sculpted air ducts, minimalist premium cabin, driver-focused layout.</a:t>
            </a:r>
          </a:p>
          <a:p>
            <a:pPr>
              <a:spcBef>
                <a:spcPts val="1400"/>
              </a:spcBef>
              <a:defRPr b="1" sz="1400">
                <a:solidFill>
                  <a:srgbClr val="FFFFFF"/>
                </a:solidFill>
              </a:defRPr>
            </a:pPr>
            <a:r>
              <a:t>•  Cockpit Integration: </a:t>
            </a:r>
            <a:r>
              <a:rPr b="0">
                <a:solidFill>
                  <a:srgbClr val="999999"/>
                </a:solidFill>
              </a:rPr>
              <a:t>Natively designed around the SkyUI 21:9 digital ecosystem for effortless control.</a:t>
            </a:r>
          </a:p>
          <a:p>
            <a:pPr>
              <a:spcBef>
                <a:spcPts val="1400"/>
              </a:spcBef>
              <a:defRPr b="1" sz="1400">
                <a:solidFill>
                  <a:srgbClr val="FFFFFF"/>
                </a:solidFill>
              </a:defRPr>
            </a:pPr>
            <a:r>
              <a:t>•  R&amp;D Philosophy: </a:t>
            </a:r>
            <a:r>
              <a:rPr b="0">
                <a:solidFill>
                  <a:srgbClr val="999999"/>
                </a:solidFill>
              </a:rPr>
              <a:t>A vehicle that balances daily usability, high-speed stability, and distinctive brand presence.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00"/>
                </a:solidFill>
                <a:latin typeface="Segoe UI"/>
              </a:defRPr>
            </a:pPr>
            <a:r>
              <a:t>04 / POWERTRAIN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V-Force Propulsion System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FF0000"/>
                </a:solidFill>
              </a:defRPr>
            </a:pPr>
            <a:r>
              <a:t>MULTI-POWERTRAIN AGNOSTICISM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V-Force is an R&amp;D propulsion framework not tied to a single fuel source. It supports ICE, Hybrid, and EV setups.</a:t>
            </a:r>
          </a:p>
          <a:p>
            <a:pPr>
              <a:spcBef>
                <a:spcPts val="1200"/>
              </a:spcBef>
              <a:defRPr b="1" sz="1400">
                <a:solidFill>
                  <a:srgbClr val="FF0000"/>
                </a:solidFill>
              </a:defRPr>
            </a:pPr>
            <a:r>
              <a:t>INTELLIGENT POWER DELIVERY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Engineered for linear torque application, thermal efficiency, and compact packaging.</a:t>
            </a:r>
          </a:p>
          <a:p>
            <a:pPr>
              <a:spcBef>
                <a:spcPts val="1200"/>
              </a:spcBef>
              <a:defRPr b="1" sz="1400">
                <a:solidFill>
                  <a:srgbClr val="FF0000"/>
                </a:solidFill>
              </a:defRPr>
            </a:pPr>
            <a:r>
              <a:t>DRIVER ENGAGEMENT FIRST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Ensures dynamic throttle response and mechanical sound signature regardless of powertrain layout.</a:t>
            </a:r>
          </a:p>
          <a:p>
            <a:pPr>
              <a:spcBef>
                <a:spcPts val="1200"/>
              </a:spcBef>
              <a:defRPr b="1" sz="1400">
                <a:solidFill>
                  <a:srgbClr val="FF0000"/>
                </a:solidFill>
              </a:defRPr>
            </a:pPr>
            <a:r>
              <a:t>FUTURE COMMERCIAL LICENSING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Designed to serve both Veltron vehicles and potential third-party boutique automotive partners.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00"/>
                </a:solidFill>
                <a:latin typeface="Segoe UI"/>
              </a:defRPr>
            </a:pPr>
            <a:r>
              <a:t>05 / DIGITAL COCKPIT &amp; HMI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SkyUI — Modular Human-Machine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21:9 Ultrawide Layout</a:t>
            </a:r>
          </a:p>
          <a:p>
            <a:pPr>
              <a:spcBef>
                <a:spcPts val="600"/>
              </a:spcBef>
              <a:defRPr sz="1200">
                <a:solidFill>
                  <a:srgbClr val="999999"/>
                </a:solidFill>
              </a:defRPr>
            </a:pPr>
            <a:r>
              <a:t>2560×960 target OLED interface tailored specifically for driver field of 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Integrated Systems</a:t>
            </a:r>
          </a:p>
          <a:p>
            <a:pPr>
              <a:spcBef>
                <a:spcPts val="600"/>
              </a:spcBef>
              <a:defRPr sz="1200">
                <a:solidFill>
                  <a:srgbClr val="999999"/>
                </a:solidFill>
              </a:defRPr>
            </a:pPr>
            <a:r>
              <a:t>Dual-zone climate (0.5° steps), 24-band EQ audio, navigation HUD, phone &amp; media.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Driver-Centric UI</a:t>
            </a:r>
          </a:p>
          <a:p>
            <a:pPr>
              <a:spcBef>
                <a:spcPts val="600"/>
              </a:spcBef>
              <a:defRPr sz="1200">
                <a:solidFill>
                  <a:srgbClr val="999999"/>
                </a:solidFill>
              </a:defRPr>
            </a:pPr>
            <a:r>
              <a:t>Physical-control friendly, non-distracting animated transitions, digital vehicle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14800"/>
            <a:ext cx="5120640" cy="201168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Future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999999"/>
                </a:solidFill>
              </a:defRPr>
            </a:pPr>
            <a:r>
              <a:t>Planned CAN, OBD, LIN integration, Veltron AI voice assistant, and OTA cloud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00"/>
                </a:solidFill>
                <a:latin typeface="Segoe UI"/>
              </a:defRPr>
            </a:pPr>
            <a:r>
              <a:t>06 / MARKET &amp;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Target Audience &amp; Strategic Competitive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0000"/>
                </a:solidFill>
              </a:defRPr>
            </a:pPr>
            <a:r>
              <a:t>TARGET AUDIENCE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 Automotive Enthusiasts &amp; Collectors seeking individuality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 Performance-oriented drivers wanting driver-focused technology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 Technology early adopters looking beyond mass-market EV offerings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 Boutique car buyers valuing design exclusivity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0000"/>
                </a:solidFill>
              </a:defRPr>
            </a:pPr>
            <a:r>
              <a:t>INDUSTRY BENCHMARKS</a:t>
            </a:r>
          </a:p>
          <a:p>
            <a:pPr>
              <a:spcBef>
                <a:spcPts val="1000"/>
              </a:spcBef>
              <a:defRPr sz="1200">
                <a:solidFill>
                  <a:srgbClr val="999999"/>
                </a:solidFill>
              </a:defRPr>
            </a:pPr>
            <a:r>
              <a:t>Monitored Benchmarks: Porsche, BMW, Audi, Mercedes-Benz, Tesla, BYD, Xiaomi EV, and independent design studios.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Veltron USP: Unified automotive design + in-house software development + agile European R&amp;D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00"/>
                </a:solidFill>
                <a:latin typeface="Segoe UI"/>
              </a:defRPr>
            </a:pPr>
            <a:r>
              <a:t>07 / COMMERCIAL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Multi-Tiered Revenue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73152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1. Limited Vehicle Production</a:t>
            </a:r>
            <a:r>
              <a:rPr b="0">
                <a:solidFill>
                  <a:srgbClr val="999999"/>
                </a:solidFill>
              </a:rPr>
              <a:t>  —  High-margin boutique production runs of Veltron vehicles.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698480" cy="73152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2. Custom Automotive Design</a:t>
            </a:r>
            <a:r>
              <a:rPr b="0">
                <a:solidFill>
                  <a:srgbClr val="999999"/>
                </a:solidFill>
              </a:rPr>
              <a:t>  —  Concept development, 3D visualization, and design consulting.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73152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3. V-Force Licensing</a:t>
            </a:r>
            <a:r>
              <a:rPr b="0">
                <a:solidFill>
                  <a:srgbClr val="999999"/>
                </a:solidFill>
              </a:rPr>
              <a:t>  —  Licensing propulsion architecture to third-party boutique makers.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34840"/>
            <a:ext cx="10698480" cy="73152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4. SkyUI Software Platform</a:t>
            </a:r>
            <a:r>
              <a:rPr b="0">
                <a:solidFill>
                  <a:srgbClr val="999999"/>
                </a:solidFill>
              </a:rPr>
              <a:t>  —  Licensing digital cockpit HMI software to automotive partners.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5. R&amp;D Partnerships</a:t>
            </a:r>
            <a:r>
              <a:rPr b="0">
                <a:solidFill>
                  <a:srgbClr val="999999"/>
                </a:solidFill>
              </a:rPr>
              <a:t>  —  Joint engineering projects with component suppliers &amp; tech firms.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00"/>
                </a:solidFill>
                <a:latin typeface="Segoe UI"/>
              </a:defRPr>
            </a:pPr>
            <a:r>
              <a:t>08 / ORGANIZATIONAL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International Distributed R&amp;D Footprint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182880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0000"/>
                </a:solidFill>
              </a:defRPr>
            </a:pPr>
            <a:r>
              <a:t>SERBIA (Belgrade)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Core R&amp;D / Engineering / Software Development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120640" cy="182880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0000"/>
                </a:solidFill>
              </a:defRPr>
            </a:pPr>
            <a:r>
              <a:t>GERMANY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Corporate Headquarters &amp; Business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120640" cy="182880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0000"/>
                </a:solidFill>
              </a:defRPr>
            </a:pPr>
            <a:r>
              <a:t>ITALY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Automotive Styling &amp; Exterior Design Center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023360"/>
            <a:ext cx="5120640" cy="182880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0000"/>
                </a:solidFill>
              </a:defRPr>
            </a:pPr>
            <a:r>
              <a:t>USA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Advanced Software &amp; Connected Services R&amp;D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00"/>
                </a:solidFill>
                <a:latin typeface="Segoe UI"/>
              </a:defRPr>
            </a:pPr>
            <a:r>
              <a:t>09 / TRACTION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Current R&amp;D Milestones &amp; Digital Proof of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Digital Vehicle Architecture</a:t>
            </a:r>
          </a:p>
          <a:p>
            <a:pPr>
              <a:spcBef>
                <a:spcPts val="800"/>
              </a:spcBef>
              <a:defRPr sz="1200">
                <a:solidFill>
                  <a:srgbClr val="999999"/>
                </a:solidFill>
              </a:defRPr>
            </a:pPr>
            <a:r>
              <a:t>Complete 3D surface modeling, chassis architecture, and render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20574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SkyUI Working Simulator</a:t>
            </a:r>
          </a:p>
          <a:p>
            <a:pPr>
              <a:spcBef>
                <a:spcPts val="800"/>
              </a:spcBef>
              <a:defRPr sz="1200">
                <a:solidFill>
                  <a:srgbClr val="999999"/>
                </a:solidFill>
              </a:defRPr>
            </a:pPr>
            <a:r>
              <a:t>Functional digital cockpit prototype running 21:9 HMI navigation, media, climate.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Media &amp; Platform Recognition</a:t>
            </a:r>
          </a:p>
          <a:p>
            <a:pPr>
              <a:spcBef>
                <a:spcPts val="800"/>
              </a:spcBef>
              <a:defRPr sz="1200">
                <a:solidFill>
                  <a:srgbClr val="999999"/>
                </a:solidFill>
              </a:defRPr>
            </a:pPr>
            <a:r>
              <a:t>Featured on Autolooks automotive platform alongside established historic brands (Yugo, FAP).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14800"/>
            <a:ext cx="5120640" cy="2011680"/>
          </a:xfrm>
          <a:prstGeom prst="round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3434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Technical Documentation</a:t>
            </a:r>
          </a:p>
          <a:p>
            <a:pPr>
              <a:spcBef>
                <a:spcPts val="800"/>
              </a:spcBef>
              <a:defRPr sz="1200">
                <a:solidFill>
                  <a:srgbClr val="999999"/>
                </a:solidFill>
              </a:defRPr>
            </a:pPr>
            <a:r>
              <a:t>Structured documentation covering powertrain, electronics, chassis, and software.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0000"/>
                </a:solidFill>
                <a:latin typeface="Segoe UI"/>
              </a:defRPr>
            </a:pPr>
            <a:r>
              <a:t>10 / 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3-Phase Execution Plan &amp; Capital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0000"/>
                </a:solidFill>
              </a:defRPr>
            </a:pPr>
            <a:r>
              <a:t>PHASE 01 — DIGITAL ENGINEERING (2026)</a:t>
            </a:r>
            <a:r>
              <a:rPr sz="1100">
                <a:solidFill>
                  <a:srgbClr val="999999"/>
                </a:solidFill>
              </a:rPr>
              <a:t>  [In Progress]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CFD aerodynamic studies, 3D refinement, SkyUI software stack, technical specs.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0698480" cy="118872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0000"/>
                </a:solidFill>
              </a:defRPr>
            </a:pPr>
            <a:r>
              <a:t>PHASE 02 — PROTOTYPING (2026–2027)</a:t>
            </a:r>
            <a:r>
              <a:rPr sz="1100">
                <a:solidFill>
                  <a:srgbClr val="999999"/>
                </a:solidFill>
              </a:rPr>
              <a:t>  [Planned]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Physical component prototypes, HMI hardware rig, powertrain proof-of-concept.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10698480" cy="118872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0000"/>
                </a:solidFill>
              </a:defRPr>
            </a:pPr>
            <a:r>
              <a:t>PHASE 03 — PHYSICAL VALIDATION (2027+)</a:t>
            </a:r>
            <a:r>
              <a:rPr sz="1100">
                <a:solidFill>
                  <a:srgbClr val="999999"/>
                </a:solidFill>
              </a:rPr>
              <a:t>  [Future]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1:1 full-scale prototype, track testing, thermal/aerodynamic validation, pre-production.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BORIS VLAJNIĆ</a:t>
            </a:r>
          </a:p>
          <a:p>
            <a:pPr>
              <a:spcBef>
                <a:spcPts val="600"/>
              </a:spcBef>
              <a:defRPr sz="1600">
                <a:solidFill>
                  <a:srgbClr val="FF0000"/>
                </a:solidFill>
              </a:defRPr>
            </a:pPr>
            <a:r>
              <a:t>Founder &amp; Automotive Design Director</a:t>
            </a:r>
          </a:p>
          <a:p>
            <a:pPr>
              <a:spcBef>
                <a:spcPts val="400"/>
              </a:spcBef>
              <a:defRPr sz="1400">
                <a:solidFill>
                  <a:srgbClr val="999999"/>
                </a:solidFill>
              </a:defRPr>
            </a:pPr>
            <a:r>
              <a:t>Veltron Cars — Independent Automotive R&amp;D Studio</a:t>
            </a:r>
          </a:p>
          <a:p>
            <a:pPr>
              <a:spcBef>
                <a:spcPts val="3500"/>
              </a:spcBef>
              <a:defRPr sz="2000" i="1">
                <a:solidFill>
                  <a:srgbClr val="FFFFFF"/>
                </a:solidFill>
              </a:defRPr>
            </a:pPr>
            <a:r>
              <a:t>"Engineering Emotion. Defining Motion."</a:t>
            </a:r>
          </a:p>
          <a:p>
            <a:pPr>
              <a:spcBef>
                <a:spcPts val="2500"/>
              </a:spcBef>
              <a:defRPr sz="1200">
                <a:solidFill>
                  <a:srgbClr val="999999"/>
                </a:solidFill>
              </a:defRPr>
            </a:pPr>
            <a:r>
              <a:t>Contact: office@veltroncars.com  |  Belgrade, Serbia  |  veltroncars.com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